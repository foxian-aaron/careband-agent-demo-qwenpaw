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0fab315e89e43f4" /><Relationship Type="http://schemas.openxmlformats.org/officeDocument/2006/relationships/extended-properties" Target="/docProps/app.xml" Id="R977d78838c24430f" /><Relationship Type="http://schemas.openxmlformats.org/officeDocument/2006/relationships/officeDocument" Target="/ppt/presentation.xml" Id="Rdf1fe3998b4a4d9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b0fb3f94b1344b0"/>
  </p:sldMasterIdLst>
  <p:notesMasterIdLst>
    <p:notesMasterId xmlns:r="http://schemas.openxmlformats.org/officeDocument/2006/relationships" r:id="R7d116795fb29445b"/>
  </p:notesMasterIdLst>
  <p:sldIdLst>
    <p:sldId xmlns:r="http://schemas.openxmlformats.org/officeDocument/2006/relationships" id="256" r:id="R1b3c6e35f71d4e40"/>
    <p:sldId xmlns:r="http://schemas.openxmlformats.org/officeDocument/2006/relationships" id="257" r:id="Rb1ecc6276b2348cd"/>
    <p:sldId xmlns:r="http://schemas.openxmlformats.org/officeDocument/2006/relationships" id="258" r:id="R4f486086907b49d8"/>
    <p:sldId xmlns:r="http://schemas.openxmlformats.org/officeDocument/2006/relationships" id="259" r:id="R53e3f65da5de4f4e"/>
    <p:sldId xmlns:r="http://schemas.openxmlformats.org/officeDocument/2006/relationships" id="260" r:id="R5e4342721e40442d"/>
    <p:sldId xmlns:r="http://schemas.openxmlformats.org/officeDocument/2006/relationships" id="261" r:id="Rd79f36fd8b2a4937"/>
    <p:sldId xmlns:r="http://schemas.openxmlformats.org/officeDocument/2006/relationships" id="262" r:id="R92795c4a64084f68"/>
    <p:sldId xmlns:r="http://schemas.openxmlformats.org/officeDocument/2006/relationships" id="263" r:id="Radb11effd09e4e0a"/>
    <p:sldId xmlns:r="http://schemas.openxmlformats.org/officeDocument/2006/relationships" id="264" r:id="Rd613379d81b64ff2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18bbde8c932401c" /><Relationship Type="http://schemas.openxmlformats.org/officeDocument/2006/relationships/slideMaster" Target="/ppt/slideMasters/slideMaster1.xml" Id="Rbb0fb3f94b1344b0" /><Relationship Type="http://schemas.openxmlformats.org/officeDocument/2006/relationships/notesMaster" Target="/ppt/notesMasters/notesMaster1.xml" Id="R7d116795fb29445b" /><Relationship Type="http://schemas.openxmlformats.org/officeDocument/2006/relationships/presProps" Target="/ppt/presProps.xml" Id="Rdc30b243f2074a33" /><Relationship Type="http://schemas.openxmlformats.org/officeDocument/2006/relationships/tableStyles" Target="/ppt/tableStyles.xml" Id="R13617fcb93484aef" /><Relationship Type="http://schemas.openxmlformats.org/officeDocument/2006/relationships/slide" Target="/ppt/slides/slide1.xml" Id="R1b3c6e35f71d4e40" /><Relationship Type="http://schemas.openxmlformats.org/officeDocument/2006/relationships/slide" Target="/ppt/slides/slide2.xml" Id="Rb1ecc6276b2348cd" /><Relationship Type="http://schemas.openxmlformats.org/officeDocument/2006/relationships/slide" Target="/ppt/slides/slide3.xml" Id="R4f486086907b49d8" /><Relationship Type="http://schemas.openxmlformats.org/officeDocument/2006/relationships/slide" Target="/ppt/slides/slide4.xml" Id="R53e3f65da5de4f4e" /><Relationship Type="http://schemas.openxmlformats.org/officeDocument/2006/relationships/slide" Target="/ppt/slides/slide5.xml" Id="R5e4342721e40442d" /><Relationship Type="http://schemas.openxmlformats.org/officeDocument/2006/relationships/slide" Target="/ppt/slides/slide6.xml" Id="Rd79f36fd8b2a4937" /><Relationship Type="http://schemas.openxmlformats.org/officeDocument/2006/relationships/slide" Target="/ppt/slides/slide7.xml" Id="R92795c4a64084f68" /><Relationship Type="http://schemas.openxmlformats.org/officeDocument/2006/relationships/slide" Target="/ppt/slides/slide8.xml" Id="Radb11effd09e4e0a" /><Relationship Type="http://schemas.openxmlformats.org/officeDocument/2006/relationships/slide" Target="/ppt/slides/slide9.xml" Id="Rd613379d81b64ff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320d94aff2e4dc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a23717fbb4c48a3" /><Relationship Type="http://schemas.openxmlformats.org/officeDocument/2006/relationships/notesMaster" Target="/ppt/notesMasters/notesMaster1.xml" Id="R40562a22a96f4ce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f50d4ecc3f74702" /><Relationship Type="http://schemas.openxmlformats.org/officeDocument/2006/relationships/notesMaster" Target="/ppt/notesMasters/notesMaster1.xml" Id="R44b6ce279fad4fb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715041bc6d749dc" /><Relationship Type="http://schemas.openxmlformats.org/officeDocument/2006/relationships/notesMaster" Target="/ppt/notesMasters/notesMaster1.xml" Id="R04c5caebeb4e4ac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4563202c6f843ab" /><Relationship Type="http://schemas.openxmlformats.org/officeDocument/2006/relationships/notesMaster" Target="/ppt/notesMasters/notesMaster1.xml" Id="R8845d5b8ed1d4ed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03ef06a91634ef7" /><Relationship Type="http://schemas.openxmlformats.org/officeDocument/2006/relationships/notesMaster" Target="/ppt/notesMasters/notesMaster1.xml" Id="Rbb6df8df434544d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9875bf19494465e" /><Relationship Type="http://schemas.openxmlformats.org/officeDocument/2006/relationships/notesMaster" Target="/ppt/notesMasters/notesMaster1.xml" Id="R462930120e9541d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d2968205d484758" /><Relationship Type="http://schemas.openxmlformats.org/officeDocument/2006/relationships/notesMaster" Target="/ppt/notesMasters/notesMaster1.xml" Id="R6ba6fc31ca31491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922ab11becb45c3" /><Relationship Type="http://schemas.openxmlformats.org/officeDocument/2006/relationships/notesMaster" Target="/ppt/notesMasters/notesMaster1.xml" Id="R5f732209df2a4da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96bd20f4a1e42f9" /><Relationship Type="http://schemas.openxmlformats.org/officeDocument/2006/relationships/notesMaster" Target="/ppt/notesMasters/notesMaster1.xml" Id="Rf33ca2424b1f44c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e1f36b544d2428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225aaeacb1c4b60" /><Relationship Type="http://schemas.openxmlformats.org/officeDocument/2006/relationships/slideLayout" Target="/ppt/slideLayouts/slideLayout1.xml" Id="Ra941423188d0411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941423188d0411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3a14ddff15477b" /><Relationship Type="http://schemas.openxmlformats.org/officeDocument/2006/relationships/notesSlide" Target="/ppt/notesSlides/notesSlide1.xml" Id="R050418d7a95a40d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82b51cc62e4ef9" /><Relationship Type="http://schemas.openxmlformats.org/officeDocument/2006/relationships/notesSlide" Target="/ppt/notesSlides/notesSlide2.xml" Id="Ra4a16c8fd85e4e1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6cf324493f4ed6" /><Relationship Type="http://schemas.openxmlformats.org/officeDocument/2006/relationships/notesSlide" Target="/ppt/notesSlides/notesSlide3.xml" Id="R0511c5b9908c4a2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60c28d8989463a" /><Relationship Type="http://schemas.openxmlformats.org/officeDocument/2006/relationships/notesSlide" Target="/ppt/notesSlides/notesSlide4.xml" Id="R1b2195bc6451439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1c1579e83a4969" /><Relationship Type="http://schemas.openxmlformats.org/officeDocument/2006/relationships/notesSlide" Target="/ppt/notesSlides/notesSlide5.xml" Id="Rd10d299d16b4494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07516436014e69" /><Relationship Type="http://schemas.openxmlformats.org/officeDocument/2006/relationships/notesSlide" Target="/ppt/notesSlides/notesSlide6.xml" Id="R58fd0fc341fb445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e51ab58d754dce" /><Relationship Type="http://schemas.openxmlformats.org/officeDocument/2006/relationships/notesSlide" Target="/ppt/notesSlides/notesSlide7.xml" Id="R4b310dc697a24e6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79b4a1e3a447f9" /><Relationship Type="http://schemas.openxmlformats.org/officeDocument/2006/relationships/notesSlide" Target="/ppt/notesSlides/notesSlide8.xml" Id="Rc915172bd91b46e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f705eb84fb4474" /><Relationship Type="http://schemas.openxmlformats.org/officeDocument/2006/relationships/notesSlide" Target="/ppt/notesSlides/notesSlide9.xml" Id="R06a86752c9644b6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3-1">
            <a:extLst xmlns:a="http://schemas.openxmlformats.org/drawingml/2006/main">
              <a:ext uri="{FF2B5EF4-FFF2-40B4-BE49-F238E27FC236}">
                <a16:creationId xmlns:a16="http://schemas.microsoft.com/office/drawing/2014/main" id="{F78F320A-8E0C-4111-9376-CC3BD79F4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spcAft>
                <a:spcPts val="0"/>
              </a:spcAft>
              <a:buNone/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57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不是再多一个健康看板
而是让异常有人处理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34949B96-6D4D-4EF3-B294-FD49B5113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742212"/>
            <a:ext cx="5702332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规则先行 · 三端同源 · 可见降级
本地比赛 Demo · 2026.07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F357242A-9C76-406B-ACE9-50B65B7E2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5702332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3D8DFF"/>
                </a:solidFill>
                <a:latin typeface="Microsoft YaHei"/>
                <a:ea typeface="Microsoft YaHei"/>
                <a:cs typeface="Microsoft YaHei"/>
              </a:rPr>
              <a:t>CareBand v0.2 · 智护环</a:t>
            </a:r>
          </a:p>
        </p:txBody>
      </p:sp>
    </p:spTree>
    <p:extLst>
      <p:ext uri="{BB962C8B-B14F-4D97-AF65-F5344CB8AC3E}">
        <p14:creationId xmlns:p14="http://schemas.microsoft.com/office/powerpoint/2010/main" val="170664959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DE37B971-3F6C-4D08-B63C-BDE30712C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Aft>
                <a:spcPts val="0"/>
              </a:spcAft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60646C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D6B8C091-725C-4632-856E-AE5C534B4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Aft>
                <a:spcPts val="0"/>
              </a:spcAft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照护缺口不在数据采集，而在谁来行动</a:t>
            </a:r>
          </a:p>
        </p:txBody>
      </p:sp>
      <p:sp>
        <p:nvSpPr>
          <p:cNvPr id="3" name="Google-Shape-534-p58-4">
            <a:extLst xmlns:a="http://schemas.openxmlformats.org/drawingml/2006/main">
              <a:ext uri="{FF2B5EF4-FFF2-40B4-BE49-F238E27FC236}">
                <a16:creationId xmlns:a16="http://schemas.microsoft.com/office/drawing/2014/main" id="{248DA38D-62C1-48D1-9146-E2F747627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031968"/>
            <a:ext cx="5537168" cy="353482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今天：数据到达，却没有闭环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9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穿戴设备给出步数、心率和睡眠；事件散落在按钮、语音与人工记录。护工、家属和机构看到的不是同一套证据。</a:t>
            </a:r>
          </a:p>
        </p:txBody>
      </p:sp>
      <p:sp>
        <p:nvSpPr>
          <p:cNvPr id="4" name="Content-Placeholder-3-5">
            <a:extLst xmlns:a="http://schemas.openxmlformats.org/drawingml/2006/main">
              <a:ext uri="{FF2B5EF4-FFF2-40B4-BE49-F238E27FC236}">
                <a16:creationId xmlns:a16="http://schemas.microsoft.com/office/drawing/2014/main" id="{E703C569-C5C7-48C7-89B4-B8493ADF6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2031968"/>
            <a:ext cx="5537168" cy="353482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3D8DFF"/>
                </a:solidFill>
                <a:latin typeface="Microsoft YaHei"/>
                <a:ea typeface="Microsoft YaHei"/>
                <a:cs typeface="Microsoft YaHei"/>
              </a:rPr>
              <a:t>CareBand：把信号变成可追溯动作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9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每日聚合与规范事件先进入规则引擎，再形成任务和三端摘要；处理完成后解决关联事件，风险重新计算。</a:t>
            </a:r>
          </a:p>
        </p:txBody>
      </p:sp>
    </p:spTree>
    <p:extLst>
      <p:ext uri="{BB962C8B-B14F-4D97-AF65-F5344CB8AC3E}">
        <p14:creationId xmlns:p14="http://schemas.microsoft.com/office/powerpoint/2010/main" val="3491954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Google-Shape-534-p58-1">
            <a:extLst xmlns:a="http://schemas.openxmlformats.org/drawingml/2006/main">
              <a:ext uri="{FF2B5EF4-FFF2-40B4-BE49-F238E27FC236}">
                <a16:creationId xmlns:a16="http://schemas.microsoft.com/office/drawing/2014/main" id="{E8F3DC9B-99A2-4DD6-A5F8-A58B4E96B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838801"/>
            <a:ext cx="5533168" cy="415556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3D8DFF"/>
                </a:solidFill>
                <a:latin typeface="Microsoft YaHei"/>
                <a:ea typeface="Microsoft YaHei"/>
                <a:cs typeface="Microsoft YaHei"/>
              </a:rPr>
              <a:t>1  输入先标准化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6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Apple Health / CSV → DailySnapshot
缺失值保持 null；质量统一为 0–100</a:t>
            </a:r>
          </a:p>
          <a:p xmlns:a="http://schemas.openxmlformats.org/drawingml/2006/main">
            <a:pPr algn="l">
              <a:lnSpc>
                <a:spcPct val="108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2  所有事件进入同一契约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6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sos / fall / voice / medication / location / device_status / manual_note</a:t>
            </a:r>
          </a:p>
        </p:txBody>
      </p:sp>
      <p:sp>
        <p:nvSpPr>
          <p:cNvPr id="2" name="Google-Shape-532-p58-3">
            <a:extLst xmlns:a="http://schemas.openxmlformats.org/drawingml/2006/main">
              <a:ext uri="{FF2B5EF4-FFF2-40B4-BE49-F238E27FC236}">
                <a16:creationId xmlns:a16="http://schemas.microsoft.com/office/drawing/2014/main" id="{E0273C69-AA84-49E7-B3DE-924E475E1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Aft>
                <a:spcPts val="0"/>
              </a:spcAft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60646C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3" name="Google-Shape-533-p58-4">
            <a:extLst xmlns:a="http://schemas.openxmlformats.org/drawingml/2006/main">
              <a:ext uri="{FF2B5EF4-FFF2-40B4-BE49-F238E27FC236}">
                <a16:creationId xmlns:a16="http://schemas.microsoft.com/office/drawing/2014/main" id="{E00A710D-B171-494C-AE6A-E8229E4AA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Aft>
                <a:spcPts val="0"/>
              </a:spcAft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一条可信链路，四层责任清晰</a:t>
            </a:r>
          </a:p>
        </p:txBody>
      </p:sp>
      <p:sp>
        <p:nvSpPr>
          <p:cNvPr id="4" name="Google-Shape-534-p58-5">
            <a:extLst xmlns:a="http://schemas.openxmlformats.org/drawingml/2006/main">
              <a:ext uri="{FF2B5EF4-FFF2-40B4-BE49-F238E27FC236}">
                <a16:creationId xmlns:a16="http://schemas.microsoft.com/office/drawing/2014/main" id="{F860947F-812F-467D-B993-A478A6CCE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5069" y="2192655"/>
            <a:ext cx="5537168" cy="38017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3  规则引擎唯一决定 risk_level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6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服务器重建档案、当天快照、排除当天的七日基线与 24 小时有效事件</a:t>
            </a:r>
          </a:p>
          <a:p xmlns:a="http://schemas.openxmlformats.org/drawingml/2006/main">
            <a:pPr algn="l">
              <a:lnSpc>
                <a:spcPct val="108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3D8DFF"/>
                </a:solidFill>
                <a:latin typeface="Microsoft YaHei"/>
                <a:ea typeface="Microsoft YaHei"/>
                <a:cs typeface="Microsoft YaHei"/>
              </a:rPr>
              <a:t>4  Agent 摘要 → Schema → 三端；失败则明确 fallback</a:t>
            </a:r>
          </a:p>
        </p:txBody>
      </p:sp>
    </p:spTree>
    <p:extLst>
      <p:ext uri="{BB962C8B-B14F-4D97-AF65-F5344CB8AC3E}">
        <p14:creationId xmlns:p14="http://schemas.microsoft.com/office/powerpoint/2010/main" val="34420144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B0EE0956-FD95-4A43-B11C-B735BA756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Aft>
                <a:spcPts val="0"/>
              </a:spcAft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60646C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22C64AEC-3528-47F0-8214-95CFBED4B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Aft>
                <a:spcPts val="0"/>
              </a:spcAft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陈伯的一次异常，必须成为可追溯任务</a:t>
            </a:r>
          </a:p>
        </p:txBody>
      </p:sp>
      <p:cxnSp>
        <p:nvCxnSpPr>
          <p:cNvPr id="21" name="Google-Shape-2259-p159-4"/>
          <p:cNvCxnSpPr/>
          <p:nvPr/>
        </p:nvCxnSpPr>
        <p:spPr>
          <a:xfrm xmlns:a="http://schemas.openxmlformats.org/drawingml/2006/main">
            <a:off x="337757" y="3373755"/>
            <a:ext cx="12245435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3EB615D3-1049-4574-90A9-F0866506B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5E488873-A7F9-4734-BD91-0432076DF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7569F086-1EC0-47DA-BF76-F87B6FCE6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Content-Placeholder-15-8">
            <a:extLst xmlns:a="http://schemas.openxmlformats.org/drawingml/2006/main">
              <a:ext uri="{FF2B5EF4-FFF2-40B4-BE49-F238E27FC236}">
                <a16:creationId xmlns:a16="http://schemas.microsoft.com/office/drawing/2014/main" id="{F4276DB3-5C37-4D4E-82A5-DE7608104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7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3D8DFF"/>
                </a:solidFill>
                <a:latin typeface="Microsoft YaHei"/>
                <a:ea typeface="Microsoft YaHei"/>
                <a:cs typeface="Microsoft YaHei"/>
              </a:rPr>
              <a:t>每日聚合</a:t>
            </a:r>
          </a:p>
        </p:txBody>
      </p:sp>
      <p:sp>
        <p:nvSpPr>
          <p:cNvPr id="8" name="Content-Placeholder-15-9">
            <a:extLst xmlns:a="http://schemas.openxmlformats.org/drawingml/2006/main">
              <a:ext uri="{FF2B5EF4-FFF2-40B4-BE49-F238E27FC236}">
                <a16:creationId xmlns:a16="http://schemas.microsoft.com/office/drawing/2014/main" id="{4421002C-C0E3-4FC0-8D87-204CB8D5B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4156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7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3D8DFF"/>
                </a:solidFill>
                <a:latin typeface="Microsoft YaHei"/>
                <a:ea typeface="Microsoft YaHei"/>
                <a:cs typeface="Microsoft YaHei"/>
              </a:rPr>
              <a:t>主动反馈</a:t>
            </a:r>
          </a:p>
        </p:txBody>
      </p:sp>
      <p:sp>
        <p:nvSpPr>
          <p:cNvPr id="9" name="Content-Placeholder-15-10">
            <a:extLst xmlns:a="http://schemas.openxmlformats.org/drawingml/2006/main">
              <a:ext uri="{FF2B5EF4-FFF2-40B4-BE49-F238E27FC236}">
                <a16:creationId xmlns:a16="http://schemas.microsoft.com/office/drawing/2014/main" id="{2CE6D84B-06DD-45E8-A49C-E220695DE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321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7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3D8DFF"/>
                </a:solidFill>
                <a:latin typeface="Microsoft YaHei"/>
                <a:ea typeface="Microsoft YaHei"/>
                <a:cs typeface="Microsoft YaHei"/>
              </a:rPr>
              <a:t>人工闭环</a:t>
            </a:r>
          </a:p>
        </p:txBody>
      </p:sp>
      <p:sp>
        <p:nvSpPr>
          <p:cNvPr id="10" name="Text-Placeholder-16-11">
            <a:extLst xmlns:a="http://schemas.openxmlformats.org/drawingml/2006/main">
              <a:ext uri="{FF2B5EF4-FFF2-40B4-BE49-F238E27FC236}">
                <a16:creationId xmlns:a16="http://schemas.microsoft.com/office/drawing/2014/main" id="{EE4630D6-E930-4F50-ABB7-3838AE6E8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7111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“我有点头晕”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6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规则升为 high_risk
生成高优先级护工任务</a:t>
            </a:r>
          </a:p>
        </p:txBody>
      </p:sp>
      <p:sp>
        <p:nvSpPr>
          <p:cNvPr id="11" name="Text-Placeholder-16-12">
            <a:extLst xmlns:a="http://schemas.openxmlformats.org/drawingml/2006/main">
              <a:ext uri="{FF2B5EF4-FFF2-40B4-BE49-F238E27FC236}">
                <a16:creationId xmlns:a16="http://schemas.microsoft.com/office/drawing/2014/main" id="{E9C799B6-30A4-4BF0-8E0D-6390357FD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85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活动与睡眠偏离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6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晚药仍未确认
只用每日聚合，不上传原始 XML</a:t>
            </a:r>
          </a:p>
        </p:txBody>
      </p:sp>
      <p:sp>
        <p:nvSpPr>
          <p:cNvPr id="12" name="Text-Placeholder-16-13">
            <a:extLst xmlns:a="http://schemas.openxmlformats.org/drawingml/2006/main">
              <a:ext uri="{FF2B5EF4-FFF2-40B4-BE49-F238E27FC236}">
                <a16:creationId xmlns:a16="http://schemas.microsoft.com/office/drawing/2014/main" id="{EDBE2EA0-61B8-4B47-8E82-F1022C092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787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接单 → 查看 → 完成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65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解决关联事件
家属与机构同步同一结果</a:t>
            </a:r>
          </a:p>
        </p:txBody>
      </p:sp>
    </p:spTree>
    <p:extLst>
      <p:ext uri="{BB962C8B-B14F-4D97-AF65-F5344CB8AC3E}">
        <p14:creationId xmlns:p14="http://schemas.microsoft.com/office/powerpoint/2010/main" val="130783992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D1642A8D-B64F-4C78-8239-094F48964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Aft>
                <a:spcPts val="0"/>
              </a:spcAft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60646C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9CC4AA1C-46DF-4338-A6B0-7A39F5D74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Aft>
                <a:spcPts val="0"/>
              </a:spcAft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AI 负责解释，不负责决定风险</a:t>
            </a:r>
          </a:p>
        </p:txBody>
      </p:sp>
      <p:sp>
        <p:nvSpPr>
          <p:cNvPr id="3" name="Google-Shape-534-p58-4">
            <a:extLst xmlns:a="http://schemas.openxmlformats.org/drawingml/2006/main">
              <a:ext uri="{FF2B5EF4-FFF2-40B4-BE49-F238E27FC236}">
                <a16:creationId xmlns:a16="http://schemas.microsoft.com/office/drawing/2014/main" id="{D03D24AE-CB3F-4534-81A0-225D171CE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031968"/>
            <a:ext cx="5537168" cy="353482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规则引擎：不可越过的安全边界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9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客户端不能上传 risk_result。SOS 直接 urgent；头晕 + 晚药未确认为 high_risk；数据不足绝不等于稳定。</a:t>
            </a:r>
          </a:p>
        </p:txBody>
      </p:sp>
      <p:sp>
        <p:nvSpPr>
          <p:cNvPr id="4" name="Content-Placeholder-3-5">
            <a:extLst xmlns:a="http://schemas.openxmlformats.org/drawingml/2006/main">
              <a:ext uri="{FF2B5EF4-FFF2-40B4-BE49-F238E27FC236}">
                <a16:creationId xmlns:a16="http://schemas.microsoft.com/office/drawing/2014/main" id="{67E9CA4D-EBA6-4A87-AD68-F80839C83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2031968"/>
            <a:ext cx="5537168" cy="353482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3D8DFF"/>
                </a:solidFill>
                <a:latin typeface="Microsoft YaHei"/>
                <a:ea typeface="Microsoft YaHei"/>
                <a:cs typeface="Microsoft YaHei"/>
              </a:rPr>
              <a:t>Agent：解释、分发、建议人工跟进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9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风险等级、分数和理由必须与规则完全一致。JSON Schema、固定免责声明和禁止诊断/处方校验失败时重试一次，再进入确定性 Mock。</a:t>
            </a:r>
          </a:p>
        </p:txBody>
      </p:sp>
    </p:spTree>
    <p:extLst>
      <p:ext uri="{BB962C8B-B14F-4D97-AF65-F5344CB8AC3E}">
        <p14:creationId xmlns:p14="http://schemas.microsoft.com/office/powerpoint/2010/main" val="37420124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81FF5A8F-0C14-4D42-9C6B-908CA8720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Aft>
                <a:spcPts val="0"/>
              </a:spcAft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60646C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E68ED6A0-799C-4564-95F7-FE0310C4B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Aft>
                <a:spcPts val="0"/>
              </a:spcAft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同一次已验证输出，服务三个不同角色</a:t>
            </a:r>
          </a:p>
        </p:txBody>
      </p:sp>
      <p:sp>
        <p:nvSpPr>
          <p:cNvPr id="3" name="Google-Shape-558-p61-4">
            <a:extLst xmlns:a="http://schemas.openxmlformats.org/drawingml/2006/main">
              <a:ext uri="{FF2B5EF4-FFF2-40B4-BE49-F238E27FC236}">
                <a16:creationId xmlns:a16="http://schemas.microsoft.com/office/drawing/2014/main" id="{0C6A3EBD-A101-4E05-9901-042D04A84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013168"/>
            <a:ext cx="3568732" cy="198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护工
证据 + 优先级
下一步现场动作</a:t>
            </a:r>
          </a:p>
        </p:txBody>
      </p:sp>
      <p:sp>
        <p:nvSpPr>
          <p:cNvPr id="4" name="Google-Shape-559-p61-5">
            <a:extLst xmlns:a="http://schemas.openxmlformats.org/drawingml/2006/main">
              <a:ext uri="{FF2B5EF4-FFF2-40B4-BE49-F238E27FC236}">
                <a16:creationId xmlns:a16="http://schemas.microsoft.com/office/drawing/2014/main" id="{08823CF0-B964-4819-AD44-6BDA9F733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7968" y="4013168"/>
            <a:ext cx="3568732" cy="198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家属
克制的安心摘要
只显示必要跟进</a:t>
            </a:r>
          </a:p>
        </p:txBody>
      </p:sp>
      <p:sp>
        <p:nvSpPr>
          <p:cNvPr id="5" name="Google-Shape-560-p61-6">
            <a:extLst xmlns:a="http://schemas.openxmlformats.org/drawingml/2006/main">
              <a:ext uri="{FF2B5EF4-FFF2-40B4-BE49-F238E27FC236}">
                <a16:creationId xmlns:a16="http://schemas.microsoft.com/office/drawing/2014/main" id="{4995E353-D115-45E0-B30A-3611D4876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2267" y="4013168"/>
            <a:ext cx="3568732" cy="198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机构
风险队列 + 闭环
团队测试数据隔离</a:t>
            </a:r>
          </a:p>
        </p:txBody>
      </p:sp>
      <p:sp>
        <p:nvSpPr>
          <p:cNvPr id="6" name="Google-Shape-561-p61-7">
            <a:extLst xmlns:a="http://schemas.openxmlformats.org/drawingml/2006/main">
              <a:ext uri="{FF2B5EF4-FFF2-40B4-BE49-F238E27FC236}">
                <a16:creationId xmlns:a16="http://schemas.microsoft.com/office/drawing/2014/main" id="{5C9AA6B2-0DA3-4368-81E8-D036EC1A9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868" y="3382328"/>
            <a:ext cx="315563" cy="353854"/>
          </a:xfrm>
          <a:custGeom xmlns:a="http://schemas.openxmlformats.org/drawingml/2006/main">
            <a:pathLst>
              <a:path w="192747900" h="191595375">
                <a:moveTo>
                  <a:pt x="107661075" y="24707850"/>
                </a:moveTo>
                <a:lnTo>
                  <a:pt x="20716875" y="114138075"/>
                </a:lnTo>
                <a:lnTo>
                  <a:pt x="86039325" y="114138075"/>
                </a:lnTo>
                <a:cubicBezTo>
                  <a:pt x="89192100" y="114138075"/>
                  <a:pt x="92182950" y="115423950"/>
                  <a:pt x="94135575" y="117614700"/>
                </a:cubicBezTo>
                <a:cubicBezTo>
                  <a:pt x="96097725" y="119814975"/>
                  <a:pt x="96821625" y="122682000"/>
                  <a:pt x="96097725" y="125406150"/>
                </a:cubicBezTo>
                <a:lnTo>
                  <a:pt x="85086825" y="166897050"/>
                </a:lnTo>
                <a:lnTo>
                  <a:pt x="172031025" y="77466825"/>
                </a:lnTo>
                <a:lnTo>
                  <a:pt x="106708575" y="77466825"/>
                </a:lnTo>
                <a:cubicBezTo>
                  <a:pt x="103555800" y="77466825"/>
                  <a:pt x="100564950" y="76190475"/>
                  <a:pt x="98612325" y="73990200"/>
                </a:cubicBezTo>
                <a:cubicBezTo>
                  <a:pt x="96650175" y="71789925"/>
                  <a:pt x="95926275" y="68922900"/>
                  <a:pt x="96650175" y="66198750"/>
                </a:cubicBezTo>
                <a:lnTo>
                  <a:pt x="107661075" y="24707850"/>
                </a:lnTo>
                <a:close/>
                <a:moveTo>
                  <a:pt x="98888550" y="5648325"/>
                </a:moveTo>
                <a:cubicBezTo>
                  <a:pt x="111242475" y="-7067550"/>
                  <a:pt x="134540625" y="3457575"/>
                  <a:pt x="130206750" y="19792950"/>
                </a:cubicBezTo>
                <a:lnTo>
                  <a:pt x="119767350" y="59131200"/>
                </a:lnTo>
                <a:lnTo>
                  <a:pt x="172031025" y="59131200"/>
                </a:lnTo>
                <a:cubicBezTo>
                  <a:pt x="189718950" y="59131200"/>
                  <a:pt x="199243950" y="77552550"/>
                  <a:pt x="187690125" y="89439750"/>
                </a:cubicBezTo>
                <a:lnTo>
                  <a:pt x="93859350" y="185956575"/>
                </a:lnTo>
                <a:cubicBezTo>
                  <a:pt x="81505425" y="198672450"/>
                  <a:pt x="58207275" y="188147325"/>
                  <a:pt x="62541150" y="171811950"/>
                </a:cubicBezTo>
                <a:lnTo>
                  <a:pt x="72980550" y="132473700"/>
                </a:lnTo>
                <a:lnTo>
                  <a:pt x="20716875" y="132473700"/>
                </a:lnTo>
                <a:cubicBezTo>
                  <a:pt x="3028950" y="132473700"/>
                  <a:pt x="-6496050" y="114052350"/>
                  <a:pt x="5057775" y="102165150"/>
                </a:cubicBezTo>
                <a:lnTo>
                  <a:pt x="98888550" y="5648325"/>
                </a:ln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7" name="Google-Shape-562-p61-8">
            <a:extLst xmlns:a="http://schemas.openxmlformats.org/drawingml/2006/main">
              <a:ext uri="{FF2B5EF4-FFF2-40B4-BE49-F238E27FC236}">
                <a16:creationId xmlns:a16="http://schemas.microsoft.com/office/drawing/2014/main" id="{EE2063CE-FCDF-4954-BDFE-66C3C6725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384" y="3378232"/>
            <a:ext cx="327089" cy="362045"/>
          </a:xfrm>
          <a:custGeom xmlns:a="http://schemas.openxmlformats.org/drawingml/2006/main">
            <a:pathLst>
              <a:path w="205740000" h="203196825">
                <a:moveTo>
                  <a:pt x="108194475" y="20288250"/>
                </a:moveTo>
                <a:cubicBezTo>
                  <a:pt x="104908350" y="18583275"/>
                  <a:pt x="100850700" y="18583275"/>
                  <a:pt x="97545525" y="20288250"/>
                </a:cubicBezTo>
                <a:lnTo>
                  <a:pt x="30956250" y="54597300"/>
                </a:lnTo>
                <a:lnTo>
                  <a:pt x="103031925" y="90773250"/>
                </a:lnTo>
                <a:lnTo>
                  <a:pt x="177098325" y="55778400"/>
                </a:lnTo>
                <a:lnTo>
                  <a:pt x="108194475" y="20288250"/>
                </a:lnTo>
                <a:close/>
                <a:moveTo>
                  <a:pt x="184442100" y="73809225"/>
                </a:moveTo>
                <a:lnTo>
                  <a:pt x="113518950" y="107318175"/>
                </a:lnTo>
                <a:lnTo>
                  <a:pt x="113518950" y="180174900"/>
                </a:lnTo>
                <a:lnTo>
                  <a:pt x="179117625" y="146370675"/>
                </a:lnTo>
                <a:cubicBezTo>
                  <a:pt x="182422800" y="144675225"/>
                  <a:pt x="184442100" y="141541500"/>
                  <a:pt x="184442100" y="138141075"/>
                </a:cubicBezTo>
                <a:lnTo>
                  <a:pt x="184442100" y="73809225"/>
                </a:lnTo>
                <a:close/>
                <a:moveTo>
                  <a:pt x="92221050" y="180174900"/>
                </a:moveTo>
                <a:lnTo>
                  <a:pt x="92221050" y="107156250"/>
                </a:lnTo>
                <a:lnTo>
                  <a:pt x="21297900" y="71561325"/>
                </a:lnTo>
                <a:lnTo>
                  <a:pt x="21297900" y="138141075"/>
                </a:lnTo>
                <a:cubicBezTo>
                  <a:pt x="21297900" y="141541500"/>
                  <a:pt x="23317200" y="144675225"/>
                  <a:pt x="26622375" y="146370675"/>
                </a:cubicBezTo>
                <a:lnTo>
                  <a:pt x="92221050" y="180174900"/>
                </a:lnTo>
                <a:close/>
                <a:moveTo>
                  <a:pt x="86896575" y="3819525"/>
                </a:moveTo>
                <a:cubicBezTo>
                  <a:pt x="96774000" y="-1266825"/>
                  <a:pt x="108966000" y="-1266825"/>
                  <a:pt x="118843425" y="3819525"/>
                </a:cubicBezTo>
                <a:lnTo>
                  <a:pt x="189766575" y="40366950"/>
                </a:lnTo>
                <a:cubicBezTo>
                  <a:pt x="199663050" y="45462825"/>
                  <a:pt x="205740000" y="54873525"/>
                  <a:pt x="205740000" y="65055750"/>
                </a:cubicBezTo>
                <a:lnTo>
                  <a:pt x="205740000" y="138141075"/>
                </a:lnTo>
                <a:cubicBezTo>
                  <a:pt x="205740000" y="148323300"/>
                  <a:pt x="199663050" y="157743525"/>
                  <a:pt x="189766575" y="162839400"/>
                </a:cubicBezTo>
                <a:lnTo>
                  <a:pt x="118843425" y="199377300"/>
                </a:lnTo>
                <a:cubicBezTo>
                  <a:pt x="108966000" y="204473175"/>
                  <a:pt x="96774000" y="204473175"/>
                  <a:pt x="86896575" y="199377300"/>
                </a:cubicBezTo>
                <a:lnTo>
                  <a:pt x="15973425" y="162839400"/>
                </a:lnTo>
                <a:cubicBezTo>
                  <a:pt x="6096000" y="157743525"/>
                  <a:pt x="0" y="148323300"/>
                  <a:pt x="0" y="138141075"/>
                </a:cubicBezTo>
                <a:lnTo>
                  <a:pt x="0" y="65055750"/>
                </a:lnTo>
                <a:cubicBezTo>
                  <a:pt x="0" y="54873525"/>
                  <a:pt x="6096000" y="45462825"/>
                  <a:pt x="15973425" y="40366950"/>
                </a:cubicBezTo>
                <a:lnTo>
                  <a:pt x="86896575" y="3819525"/>
                </a:ln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8" name="Google-Shape-563-p61-9">
            <a:extLst xmlns:a="http://schemas.openxmlformats.org/drawingml/2006/main">
              <a:ext uri="{FF2B5EF4-FFF2-40B4-BE49-F238E27FC236}">
                <a16:creationId xmlns:a16="http://schemas.microsoft.com/office/drawing/2014/main" id="{4F300E39-F1EE-4360-A99F-72E0CDEFF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1600" y="3406807"/>
            <a:ext cx="338614" cy="270891"/>
          </a:xfrm>
          <a:custGeom xmlns:a="http://schemas.openxmlformats.org/drawingml/2006/main">
            <a:pathLst>
              <a:path w="205740000" h="205740000">
                <a:moveTo>
                  <a:pt x="59245500" y="0"/>
                </a:moveTo>
                <a:lnTo>
                  <a:pt x="146494500" y="0"/>
                </a:lnTo>
                <a:cubicBezTo>
                  <a:pt x="154781250" y="0"/>
                  <a:pt x="161620200" y="0"/>
                  <a:pt x="167182800" y="561975"/>
                </a:cubicBezTo>
                <a:cubicBezTo>
                  <a:pt x="172964475" y="1162050"/>
                  <a:pt x="178279425" y="2428875"/>
                  <a:pt x="183270525" y="5610225"/>
                </a:cubicBezTo>
                <a:cubicBezTo>
                  <a:pt x="191023875" y="10534650"/>
                  <a:pt x="197310375" y="18402300"/>
                  <a:pt x="201253725" y="28079700"/>
                </a:cubicBezTo>
                <a:cubicBezTo>
                  <a:pt x="203796900" y="34318575"/>
                  <a:pt x="204816075" y="40967025"/>
                  <a:pt x="205282800" y="48196500"/>
                </a:cubicBezTo>
                <a:cubicBezTo>
                  <a:pt x="205740000" y="55149750"/>
                  <a:pt x="205740000" y="63703200"/>
                  <a:pt x="205740000" y="74056875"/>
                </a:cubicBezTo>
                <a:lnTo>
                  <a:pt x="205740000" y="131683125"/>
                </a:lnTo>
                <a:cubicBezTo>
                  <a:pt x="205740000" y="142036800"/>
                  <a:pt x="205740000" y="150590250"/>
                  <a:pt x="205282800" y="157543500"/>
                </a:cubicBezTo>
                <a:cubicBezTo>
                  <a:pt x="204816075" y="164772975"/>
                  <a:pt x="203796900" y="171421425"/>
                  <a:pt x="201253725" y="177660300"/>
                </a:cubicBezTo>
                <a:cubicBezTo>
                  <a:pt x="197310375" y="187337700"/>
                  <a:pt x="191023875" y="195205350"/>
                  <a:pt x="183270525" y="200129775"/>
                </a:cubicBezTo>
                <a:cubicBezTo>
                  <a:pt x="178279425" y="203311125"/>
                  <a:pt x="172964475" y="204577950"/>
                  <a:pt x="167182800" y="205178025"/>
                </a:cubicBezTo>
                <a:cubicBezTo>
                  <a:pt x="161620200" y="205740000"/>
                  <a:pt x="154781250" y="205740000"/>
                  <a:pt x="146494500" y="205740000"/>
                </a:cubicBezTo>
                <a:lnTo>
                  <a:pt x="59245500" y="205740000"/>
                </a:lnTo>
                <a:cubicBezTo>
                  <a:pt x="50958750" y="205740000"/>
                  <a:pt x="44119800" y="205740000"/>
                  <a:pt x="38557200" y="205178025"/>
                </a:cubicBezTo>
                <a:cubicBezTo>
                  <a:pt x="32775525" y="204577950"/>
                  <a:pt x="27460575" y="203311125"/>
                  <a:pt x="22469475" y="200129775"/>
                </a:cubicBezTo>
                <a:cubicBezTo>
                  <a:pt x="14716125" y="195205350"/>
                  <a:pt x="8429625" y="187337700"/>
                  <a:pt x="4486275" y="177660300"/>
                </a:cubicBezTo>
                <a:cubicBezTo>
                  <a:pt x="1943100" y="171421425"/>
                  <a:pt x="923925" y="164772975"/>
                  <a:pt x="457200" y="157543500"/>
                </a:cubicBezTo>
                <a:cubicBezTo>
                  <a:pt x="0" y="150590250"/>
                  <a:pt x="0" y="142036800"/>
                  <a:pt x="0" y="131683125"/>
                </a:cubicBezTo>
                <a:lnTo>
                  <a:pt x="0" y="74056875"/>
                </a:lnTo>
                <a:cubicBezTo>
                  <a:pt x="0" y="63703200"/>
                  <a:pt x="0" y="55149750"/>
                  <a:pt x="457200" y="48196500"/>
                </a:cubicBezTo>
                <a:cubicBezTo>
                  <a:pt x="923925" y="40967025"/>
                  <a:pt x="1943100" y="34318575"/>
                  <a:pt x="4486275" y="28079700"/>
                </a:cubicBezTo>
                <a:cubicBezTo>
                  <a:pt x="8429625" y="18402300"/>
                  <a:pt x="14716125" y="10534650"/>
                  <a:pt x="22469475" y="5610225"/>
                </a:cubicBezTo>
                <a:cubicBezTo>
                  <a:pt x="27460575" y="2428875"/>
                  <a:pt x="32775525" y="1162050"/>
                  <a:pt x="38557200" y="561975"/>
                </a:cubicBezTo>
                <a:cubicBezTo>
                  <a:pt x="44119800" y="0"/>
                  <a:pt x="50958750" y="0"/>
                  <a:pt x="59245500" y="0"/>
                </a:cubicBezTo>
                <a:close/>
                <a:moveTo>
                  <a:pt x="20574000" y="90011250"/>
                </a:moveTo>
                <a:lnTo>
                  <a:pt x="20574000" y="131159250"/>
                </a:lnTo>
                <a:cubicBezTo>
                  <a:pt x="20574000" y="142179675"/>
                  <a:pt x="20583525" y="149666325"/>
                  <a:pt x="20964525" y="155448000"/>
                </a:cubicBezTo>
                <a:cubicBezTo>
                  <a:pt x="21326475" y="161077275"/>
                  <a:pt x="21993225" y="163972875"/>
                  <a:pt x="22812375" y="165982650"/>
                </a:cubicBezTo>
                <a:cubicBezTo>
                  <a:pt x="24793575" y="170811825"/>
                  <a:pt x="27936825" y="174755175"/>
                  <a:pt x="31803975" y="177222150"/>
                </a:cubicBezTo>
                <a:cubicBezTo>
                  <a:pt x="33413700" y="178250850"/>
                  <a:pt x="35728275" y="179079525"/>
                  <a:pt x="40233600" y="179536725"/>
                </a:cubicBezTo>
                <a:cubicBezTo>
                  <a:pt x="44862750" y="180012975"/>
                  <a:pt x="50844450" y="180022500"/>
                  <a:pt x="59664600" y="180022500"/>
                </a:cubicBezTo>
                <a:lnTo>
                  <a:pt x="146075400" y="180022500"/>
                </a:lnTo>
                <a:cubicBezTo>
                  <a:pt x="154895550" y="180022500"/>
                  <a:pt x="160877250" y="180012975"/>
                  <a:pt x="165506400" y="179536725"/>
                </a:cubicBezTo>
                <a:cubicBezTo>
                  <a:pt x="170011725" y="179079525"/>
                  <a:pt x="172326300" y="178250850"/>
                  <a:pt x="173936025" y="177222150"/>
                </a:cubicBezTo>
                <a:cubicBezTo>
                  <a:pt x="177803175" y="174755175"/>
                  <a:pt x="180946425" y="170811825"/>
                  <a:pt x="182927625" y="165982650"/>
                </a:cubicBezTo>
                <a:cubicBezTo>
                  <a:pt x="183746775" y="163972875"/>
                  <a:pt x="184413525" y="161077275"/>
                  <a:pt x="184775475" y="155448000"/>
                </a:cubicBezTo>
                <a:cubicBezTo>
                  <a:pt x="185156475" y="149666325"/>
                  <a:pt x="185166000" y="142179675"/>
                  <a:pt x="185166000" y="131159250"/>
                </a:cubicBezTo>
                <a:lnTo>
                  <a:pt x="185166000" y="90011250"/>
                </a:lnTo>
                <a:lnTo>
                  <a:pt x="20574000" y="90011250"/>
                </a:lnTo>
                <a:close/>
                <a:moveTo>
                  <a:pt x="185146950" y="64293750"/>
                </a:moveTo>
                <a:cubicBezTo>
                  <a:pt x="185118375" y="58559700"/>
                  <a:pt x="185023125" y="54073425"/>
                  <a:pt x="184775475" y="50292000"/>
                </a:cubicBezTo>
                <a:cubicBezTo>
                  <a:pt x="184413525" y="44662725"/>
                  <a:pt x="183746775" y="41767125"/>
                  <a:pt x="182927625" y="39757350"/>
                </a:cubicBezTo>
                <a:cubicBezTo>
                  <a:pt x="180946425" y="34928175"/>
                  <a:pt x="177803175" y="30994350"/>
                  <a:pt x="173936025" y="28517850"/>
                </a:cubicBezTo>
                <a:cubicBezTo>
                  <a:pt x="172326300" y="27489150"/>
                  <a:pt x="170011725" y="26660475"/>
                  <a:pt x="165506400" y="26203275"/>
                </a:cubicBezTo>
                <a:cubicBezTo>
                  <a:pt x="160877250" y="25727025"/>
                  <a:pt x="154895550" y="25717500"/>
                  <a:pt x="146075400" y="25717500"/>
                </a:cubicBezTo>
                <a:lnTo>
                  <a:pt x="59664600" y="25717500"/>
                </a:lnTo>
                <a:cubicBezTo>
                  <a:pt x="50844450" y="25717500"/>
                  <a:pt x="44862750" y="25727025"/>
                  <a:pt x="40233600" y="26203275"/>
                </a:cubicBezTo>
                <a:cubicBezTo>
                  <a:pt x="35728275" y="26660475"/>
                  <a:pt x="33413700" y="27489150"/>
                  <a:pt x="31803975" y="28517850"/>
                </a:cubicBezTo>
                <a:cubicBezTo>
                  <a:pt x="27936825" y="30994350"/>
                  <a:pt x="24793575" y="34928175"/>
                  <a:pt x="22812375" y="39757350"/>
                </a:cubicBezTo>
                <a:cubicBezTo>
                  <a:pt x="21993225" y="41767125"/>
                  <a:pt x="21326475" y="44662725"/>
                  <a:pt x="20964525" y="50292000"/>
                </a:cubicBezTo>
                <a:cubicBezTo>
                  <a:pt x="20716875" y="54073425"/>
                  <a:pt x="20621625" y="58559700"/>
                  <a:pt x="20593050" y="64293750"/>
                </a:cubicBezTo>
                <a:lnTo>
                  <a:pt x="185146950" y="64293750"/>
                </a:lnTo>
                <a:close/>
                <a:moveTo>
                  <a:pt x="123444000" y="141446250"/>
                </a:moveTo>
                <a:cubicBezTo>
                  <a:pt x="123444000" y="134350125"/>
                  <a:pt x="128054100" y="128587500"/>
                  <a:pt x="133731000" y="128587500"/>
                </a:cubicBezTo>
                <a:lnTo>
                  <a:pt x="154305000" y="128587500"/>
                </a:lnTo>
                <a:cubicBezTo>
                  <a:pt x="159981900" y="128587500"/>
                  <a:pt x="164592000" y="134350125"/>
                  <a:pt x="164592000" y="141446250"/>
                </a:cubicBezTo>
                <a:cubicBezTo>
                  <a:pt x="164592000" y="148542375"/>
                  <a:pt x="159981900" y="154305000"/>
                  <a:pt x="154305000" y="154305000"/>
                </a:cubicBezTo>
                <a:lnTo>
                  <a:pt x="133731000" y="154305000"/>
                </a:lnTo>
                <a:cubicBezTo>
                  <a:pt x="128054100" y="154305000"/>
                  <a:pt x="123444000" y="148542375"/>
                  <a:pt x="123444000" y="141446250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</p:spTree>
    <p:extLst>
      <p:ext uri="{BB962C8B-B14F-4D97-AF65-F5344CB8AC3E}">
        <p14:creationId xmlns:p14="http://schemas.microsoft.com/office/powerpoint/2010/main" val="55116312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Rounded-Rectangle-5-1">
            <a:extLst xmlns:a="http://schemas.openxmlformats.org/drawingml/2006/main">
              <a:ext uri="{FF2B5EF4-FFF2-40B4-BE49-F238E27FC236}">
                <a16:creationId xmlns:a16="http://schemas.microsoft.com/office/drawing/2014/main" id="{CD79542B-9156-4464-A5E4-BF0E9D43F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2" name="Rounded-Rectangle-6-2">
            <a:extLst xmlns:a="http://schemas.openxmlformats.org/drawingml/2006/main">
              <a:ext uri="{FF2B5EF4-FFF2-40B4-BE49-F238E27FC236}">
                <a16:creationId xmlns:a16="http://schemas.microsoft.com/office/drawing/2014/main" id="{461D7CCF-3184-4611-9750-3D95B6654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3" name="Rounded-Rectangle-7-3">
            <a:extLst xmlns:a="http://schemas.openxmlformats.org/drawingml/2006/main">
              <a:ext uri="{FF2B5EF4-FFF2-40B4-BE49-F238E27FC236}">
                <a16:creationId xmlns:a16="http://schemas.microsoft.com/office/drawing/2014/main" id="{C068E24C-0135-4707-BAE5-B8FF951AE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2267" y="3022568"/>
            <a:ext cx="3568732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Slide-Number-Placeholder-1-4">
            <a:extLst xmlns:a="http://schemas.openxmlformats.org/drawingml/2006/main">
              <a:ext uri="{FF2B5EF4-FFF2-40B4-BE49-F238E27FC236}">
                <a16:creationId xmlns:a16="http://schemas.microsoft.com/office/drawing/2014/main" id="{2D6AE3C2-C28D-4F15-8774-F2E820191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Aft>
                <a:spcPts val="0"/>
              </a:spcAft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60646C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5" name="Title-2-5">
            <a:extLst xmlns:a="http://schemas.openxmlformats.org/drawingml/2006/main">
              <a:ext uri="{FF2B5EF4-FFF2-40B4-BE49-F238E27FC236}">
                <a16:creationId xmlns:a16="http://schemas.microsoft.com/office/drawing/2014/main" id="{7CB67E5A-AEEB-4BEF-8581-CC3526070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Aft>
                <a:spcPts val="0"/>
              </a:spcAft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当前证据：主链路已经有自动验收</a:t>
            </a:r>
          </a:p>
        </p:txBody>
      </p:sp>
      <p:sp>
        <p:nvSpPr>
          <p:cNvPr id="6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D9F2299E-8746-40A1-B4A7-198904AEB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后端测试通过</a:t>
            </a:r>
          </a:p>
        </p:txBody>
      </p:sp>
      <p:sp>
        <p:nvSpPr>
          <p:cNvPr id="7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C0180C9F-C252-4190-9B3E-6EE2D1A01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1830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固件状态机通过
ESP32-S3 编译成功</a:t>
            </a:r>
          </a:p>
        </p:txBody>
      </p:sp>
      <p:sp>
        <p:nvSpPr>
          <p:cNvPr id="8" name="Content-Placeholder-11-8">
            <a:extLst xmlns:a="http://schemas.openxmlformats.org/drawingml/2006/main">
              <a:ext uri="{FF2B5EF4-FFF2-40B4-BE49-F238E27FC236}">
                <a16:creationId xmlns:a16="http://schemas.microsoft.com/office/drawing/2014/main" id="{61A65359-A2F2-4338-959B-1C948C477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1244" y="4900613"/>
            <a:ext cx="2949607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前端测试通过</a:t>
            </a:r>
          </a:p>
        </p:txBody>
      </p:sp>
      <p:sp>
        <p:nvSpPr>
          <p:cNvPr id="9" name="Content-Placeholder-9-9">
            <a:extLst xmlns:a="http://schemas.openxmlformats.org/drawingml/2006/main">
              <a:ext uri="{FF2B5EF4-FFF2-40B4-BE49-F238E27FC236}">
                <a16:creationId xmlns:a16="http://schemas.microsoft.com/office/drawing/2014/main" id="{7826C2BF-2986-4D10-930A-27DA9C419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7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4350" b="1">
                <a:solidFill>
                  <a:srgbClr val="3D8DFF"/>
                </a:solidFill>
                <a:latin typeface="Microsoft YaHei"/>
                <a:ea typeface="Microsoft YaHei"/>
                <a:cs typeface="Microsoft YaHei"/>
              </a:rPr>
              <a:t>60 / 60</a:t>
            </a:r>
          </a:p>
        </p:txBody>
      </p:sp>
      <p:sp>
        <p:nvSpPr>
          <p:cNvPr id="10" name="Content-Placeholder-9-10">
            <a:extLst xmlns:a="http://schemas.openxmlformats.org/drawingml/2006/main">
              <a:ext uri="{FF2B5EF4-FFF2-40B4-BE49-F238E27FC236}">
                <a16:creationId xmlns:a16="http://schemas.microsoft.com/office/drawing/2014/main" id="{F88A0CDB-3751-45D6-BC72-5459C60E6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2958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4350" b="1">
                <a:solidFill>
                  <a:srgbClr val="3D8DFF"/>
                </a:solidFill>
                <a:latin typeface="Microsoft YaHei"/>
                <a:ea typeface="Microsoft YaHei"/>
                <a:cs typeface="Microsoft YaHei"/>
              </a:rPr>
              <a:t>81 / 81</a:t>
            </a:r>
          </a:p>
        </p:txBody>
      </p:sp>
      <p:sp>
        <p:nvSpPr>
          <p:cNvPr id="11" name="Content-Placeholder-9-11">
            <a:extLst xmlns:a="http://schemas.openxmlformats.org/drawingml/2006/main">
              <a:ext uri="{FF2B5EF4-FFF2-40B4-BE49-F238E27FC236}">
                <a16:creationId xmlns:a16="http://schemas.microsoft.com/office/drawing/2014/main" id="{72E78783-71EA-4BEA-BC18-1785C4F1E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404" y="3429000"/>
            <a:ext cx="2940082" cy="135931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4350" b="1">
                <a:solidFill>
                  <a:srgbClr val="3D8DFF"/>
                </a:solidFill>
                <a:latin typeface="Microsoft YaHei"/>
                <a:ea typeface="Microsoft YaHei"/>
                <a:cs typeface="Microsoft YaHei"/>
              </a:rPr>
              <a:t>11 / 11</a:t>
            </a:r>
          </a:p>
        </p:txBody>
      </p:sp>
      <p:sp>
        <p:nvSpPr>
          <p:cNvPr id="12" name="Content-Placeholder-15-12">
            <a:extLst xmlns:a="http://schemas.openxmlformats.org/drawingml/2006/main">
              <a:ext uri="{FF2B5EF4-FFF2-40B4-BE49-F238E27FC236}">
                <a16:creationId xmlns:a16="http://schemas.microsoft.com/office/drawing/2014/main" id="{45013216-EAAF-432F-B780-57BA5DCEA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138333"/>
            <a:ext cx="11404568" cy="15994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7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3D8DFF"/>
                </a:solidFill>
                <a:latin typeface="Microsoft YaHei"/>
                <a:ea typeface="Microsoft YaHei"/>
                <a:cs typeface="Microsoft YaHei"/>
              </a:rPr>
              <a:t>本地自动测试 · 2026-07-11</a:t>
            </a:r>
          </a:p>
          <a:p xmlns:a="http://schemas.openxmlformats.org/drawingml/2006/main">
            <a:pPr algn="l">
              <a:lnSpc>
                <a:spcPct val="108000"/>
              </a:lnSpc>
              <a:spcAft>
                <a:spcPts val="7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覆盖规则、迁移、事件闭环、CSV 幂等、Agent Schema / SSE / fallback、三端数据换算与机构指标隔离。</a:t>
            </a:r>
          </a:p>
        </p:txBody>
      </p:sp>
    </p:spTree>
    <p:extLst>
      <p:ext uri="{BB962C8B-B14F-4D97-AF65-F5344CB8AC3E}">
        <p14:creationId xmlns:p14="http://schemas.microsoft.com/office/powerpoint/2010/main" val="82361985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B602D12D-94D0-499C-9923-53675ADDA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Aft>
                <a:spcPts val="0"/>
              </a:spcAft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60646C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2FED17B4-80BF-413F-9C1A-10E4AE248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Aft>
                <a:spcPts val="0"/>
              </a:spcAft>
              <a:buNone/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下一步只补真实证据，不再扩写功能</a:t>
            </a:r>
          </a:p>
        </p:txBody>
      </p:sp>
      <p:cxnSp>
        <p:nvCxnSpPr>
          <p:cNvPr id="24" name="Google-Shape-2259-p159-4"/>
          <p:cNvCxnSpPr/>
          <p:nvPr/>
        </p:nvCxnSpPr>
        <p:spPr>
          <a:xfrm xmlns:a="http://schemas.openxmlformats.org/drawingml/2006/main">
            <a:off x="337757" y="5341620"/>
            <a:ext cx="12245435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629197E3-7136-4412-8313-4D30237F5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5288089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13349859-4ADE-4CEC-915B-A011FA9F0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5288089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FF25DA6E-AF5B-4D42-BF28-09E21C621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5288089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Rounded-Rectangle-19-8">
            <a:extLst xmlns:a="http://schemas.openxmlformats.org/drawingml/2006/main">
              <a:ext uri="{FF2B5EF4-FFF2-40B4-BE49-F238E27FC236}">
                <a16:creationId xmlns:a16="http://schemas.microsoft.com/office/drawing/2014/main" id="{732AA1B7-987E-4BEF-A337-29C566970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401794"/>
            <a:ext cx="3568732" cy="3619500"/>
          </a:xfrm>
          <a:prstGeom xmlns:a="http://schemas.openxmlformats.org/drawingml/2006/main" prst="roundRect">
            <a:avLst>
              <a:gd name="adj" fmla="val 213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8" name="Content-Placeholder-8-9">
            <a:extLst xmlns:a="http://schemas.openxmlformats.org/drawingml/2006/main">
              <a:ext uri="{FF2B5EF4-FFF2-40B4-BE49-F238E27FC236}">
                <a16:creationId xmlns:a16="http://schemas.microsoft.com/office/drawing/2014/main" id="{59C1CEC1-9DD4-48D3-B770-895F22BC2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421" y="1806797"/>
            <a:ext cx="2949321" cy="256679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7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3D8DFF"/>
                </a:solidFill>
                <a:latin typeface="Microsoft YaHei"/>
                <a:ea typeface="Microsoft YaHei"/>
                <a:cs typeface="Microsoft YaHei"/>
              </a:rPr>
              <a:t>现在已可演示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65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本地前后端
规则 + Agent fallback
真实 CSV 导入
三端任务闭环</a:t>
            </a:r>
          </a:p>
        </p:txBody>
      </p:sp>
      <p:sp>
        <p:nvSpPr>
          <p:cNvPr id="9" name="Rounded-Rectangle-21-10">
            <a:extLst xmlns:a="http://schemas.openxmlformats.org/drawingml/2006/main">
              <a:ext uri="{FF2B5EF4-FFF2-40B4-BE49-F238E27FC236}">
                <a16:creationId xmlns:a16="http://schemas.microsoft.com/office/drawing/2014/main" id="{9D55E3B2-DB7E-4E1A-A40D-A90146E99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8443" y="1401794"/>
            <a:ext cx="3568732" cy="3619500"/>
          </a:xfrm>
          <a:prstGeom xmlns:a="http://schemas.openxmlformats.org/drawingml/2006/main" prst="roundRect">
            <a:avLst>
              <a:gd name="adj" fmla="val 213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10" name="Content-Placeholder-8-11">
            <a:extLst xmlns:a="http://schemas.openxmlformats.org/drawingml/2006/main">
              <a:ext uri="{FF2B5EF4-FFF2-40B4-BE49-F238E27FC236}">
                <a16:creationId xmlns:a16="http://schemas.microsoft.com/office/drawing/2014/main" id="{0D509C1D-F240-42A0-8F3F-594D7697D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8196" y="1806797"/>
            <a:ext cx="2949321" cy="256679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7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需要用户补齐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65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刷新阿里模型凭据
连接 ESP32 与 COM 口
完成三次实体按键验收</a:t>
            </a:r>
          </a:p>
        </p:txBody>
      </p:sp>
      <p:sp>
        <p:nvSpPr>
          <p:cNvPr id="11" name="Rounded-Rectangle-23-12">
            <a:extLst xmlns:a="http://schemas.openxmlformats.org/drawingml/2006/main">
              <a:ext uri="{FF2B5EF4-FFF2-40B4-BE49-F238E27FC236}">
                <a16:creationId xmlns:a16="http://schemas.microsoft.com/office/drawing/2014/main" id="{C2FC39B2-5BA6-4B3B-BB93-D674D5F50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7506" y="1401794"/>
            <a:ext cx="3568732" cy="3619500"/>
          </a:xfrm>
          <a:prstGeom xmlns:a="http://schemas.openxmlformats.org/drawingml/2006/main" prst="roundRect">
            <a:avLst>
              <a:gd name="adj" fmla="val 213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12" name="Content-Placeholder-8-13">
            <a:extLst xmlns:a="http://schemas.openxmlformats.org/drawingml/2006/main">
              <a:ext uri="{FF2B5EF4-FFF2-40B4-BE49-F238E27FC236}">
                <a16:creationId xmlns:a16="http://schemas.microsoft.com/office/drawing/2014/main" id="{F08950CF-0969-44E9-8BE6-17184BDCB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7259" y="1806797"/>
            <a:ext cx="2949321" cy="256679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70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进入真实场景前</a:t>
            </a:r>
          </a:p>
          <a:p xmlns:a="http://schemas.openxmlformats.org/drawingml/2006/main">
            <a:pPr algn="l">
              <a:lnSpc>
                <a:spcPct val="112000"/>
              </a:lnSpc>
              <a:spcAft>
                <a:spcPts val="650"/>
              </a:spcAft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333333"/>
                </a:solidFill>
                <a:latin typeface="Microsoft YaHei"/>
                <a:ea typeface="Microsoft YaHei"/>
                <a:cs typeface="Microsoft YaHei"/>
              </a:rPr>
              <a:t>护工 / 家属 / 机构访谈
分项录音同意
工作人员封闭测试
正式隐私复核</a:t>
            </a:r>
          </a:p>
        </p:txBody>
      </p:sp>
      <p:sp>
        <p:nvSpPr>
          <p:cNvPr id="13" name="Text-Placeholder-16-14">
            <a:extLst xmlns:a="http://schemas.openxmlformats.org/drawingml/2006/main">
              <a:ext uri="{FF2B5EF4-FFF2-40B4-BE49-F238E27FC236}">
                <a16:creationId xmlns:a16="http://schemas.microsoft.com/office/drawing/2014/main" id="{B2F78677-0DE2-494B-9B24-D159E0F2D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5602414"/>
            <a:ext cx="2595944" cy="3919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硬件与凭据</a:t>
            </a:r>
          </a:p>
        </p:txBody>
      </p:sp>
      <p:sp>
        <p:nvSpPr>
          <p:cNvPr id="14" name="Text-Placeholder-16-15">
            <a:extLst xmlns:a="http://schemas.openxmlformats.org/drawingml/2006/main">
              <a:ext uri="{FF2B5EF4-FFF2-40B4-BE49-F238E27FC236}">
                <a16:creationId xmlns:a16="http://schemas.microsoft.com/office/drawing/2014/main" id="{363F32D8-94E9-4306-A7D3-3AF99CD3B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906" y="5602414"/>
            <a:ext cx="2595944" cy="3919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软件闭环</a:t>
            </a:r>
          </a:p>
        </p:txBody>
      </p:sp>
      <p:sp>
        <p:nvSpPr>
          <p:cNvPr id="15" name="Text-Placeholder-16-16">
            <a:extLst xmlns:a="http://schemas.openxmlformats.org/drawingml/2006/main">
              <a:ext uri="{FF2B5EF4-FFF2-40B4-BE49-F238E27FC236}">
                <a16:creationId xmlns:a16="http://schemas.microsoft.com/office/drawing/2014/main" id="{F1217D66-82B6-4ADE-8997-6F7FA095A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5409" y="5602414"/>
            <a:ext cx="2595944" cy="3919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场景与合规</a:t>
            </a:r>
          </a:p>
        </p:txBody>
      </p:sp>
    </p:spTree>
    <p:extLst>
      <p:ext uri="{BB962C8B-B14F-4D97-AF65-F5344CB8AC3E}">
        <p14:creationId xmlns:p14="http://schemas.microsoft.com/office/powerpoint/2010/main" val="214137596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-3-1">
            <a:extLst xmlns:a="http://schemas.openxmlformats.org/drawingml/2006/main">
              <a:ext uri="{FF2B5EF4-FFF2-40B4-BE49-F238E27FC236}">
                <a16:creationId xmlns:a16="http://schemas.microsoft.com/office/drawing/2014/main" id="{31DB6F34-4FD1-4F4F-96E7-C4DE4097F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spcAft>
                <a:spcPts val="0"/>
              </a:spcAft>
              <a:buNone/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54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下一步：把闭环
带进真实场景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0C342933-6334-4C1F-AC41-BE893106A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973288"/>
            <a:ext cx="3568732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先工作人员 / 志愿者</a:t>
            </a:r>
          </a:p>
          <a:p xmlns:a="http://schemas.openxmlformats.org/drawingml/2006/main">
            <a:pPr algn="l">
              <a:lnSpc>
                <a:spcPct val="108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再评估真实长者试戴</a:t>
            </a:r>
          </a:p>
          <a:p xmlns:a="http://schemas.openxmlformats.org/drawingml/2006/main">
            <a:pPr algn="l">
              <a:lnSpc>
                <a:spcPct val="108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全程非医疗诊断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50CF8D27-0D99-461C-83E8-FF8280E98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1612868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700"/>
              </a:spcAft>
              <a:buNone/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3D8DFF"/>
                </a:solidFill>
                <a:latin typeface="Microsoft YaHei"/>
                <a:ea typeface="Microsoft YaHei"/>
                <a:cs typeface="Microsoft YaHei"/>
              </a:rPr>
              <a:t>CareBand v0.2</a:t>
            </a:r>
          </a:p>
        </p:txBody>
      </p:sp>
    </p:spTree>
    <p:extLst>
      <p:ext uri="{BB962C8B-B14F-4D97-AF65-F5344CB8AC3E}">
        <p14:creationId xmlns:p14="http://schemas.microsoft.com/office/powerpoint/2010/main" val="192400651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2026-07-11T10:45:33.6900000Z</dcterms:created>
  <dcterms:modified xsi:type="dcterms:W3CDTF">2026-07-11T10:45:33.6900000Z</dcterms:modified>
</coreProperties>
</file>